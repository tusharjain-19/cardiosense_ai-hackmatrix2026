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koto Glitch 1" charset="1" panose="00000000000000000000"/>
      <p:regular r:id="rId16"/>
    </p:embeddedFont>
    <p:embeddedFont>
      <p:font typeface="Helvetica World" charset="1" panose="020B0500040000020004"/>
      <p:regular r:id="rId17"/>
    </p:embeddedFont>
    <p:embeddedFont>
      <p:font typeface="Norwester" charset="1" panose="00000506000000000000"/>
      <p:regular r:id="rId18"/>
    </p:embeddedFont>
    <p:embeddedFont>
      <p:font typeface="Helvetica World Bold" charset="1" panose="020B080004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15294" y="4229584"/>
            <a:ext cx="4573306" cy="2419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9"/>
              </a:lnSpc>
            </a:pPr>
            <a:r>
              <a:rPr lang="en-US" sz="6949">
                <a:solidFill>
                  <a:srgbClr val="98C632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HACK</a:t>
            </a:r>
          </a:p>
          <a:p>
            <a:pPr algn="ctr">
              <a:lnSpc>
                <a:spcPts val="9729"/>
              </a:lnSpc>
              <a:spcBef>
                <a:spcPct val="0"/>
              </a:spcBef>
            </a:pPr>
            <a:r>
              <a:rPr lang="en-US" sz="6949">
                <a:solidFill>
                  <a:srgbClr val="98C632"/>
                </a:solidFill>
                <a:latin typeface="Mokoto Glitch 1"/>
                <a:ea typeface="Mokoto Glitch 1"/>
                <a:cs typeface="Mokoto Glitch 1"/>
                <a:sym typeface="Mokoto Glitch 1"/>
              </a:rPr>
              <a:t>MATRIX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24345" y="1142405"/>
            <a:ext cx="5290055" cy="119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9"/>
              </a:lnSpc>
              <a:spcBef>
                <a:spcPct val="0"/>
              </a:spcBef>
            </a:pPr>
            <a:r>
              <a:rPr lang="en-US" sz="694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 Name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19595" y="3617019"/>
            <a:ext cx="7096488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Problem Statement: PS-XX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Domain: Healthcare / Education / AI / FinTech / etc.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Team [TEAM NAME]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Member 01 · Member 02 · Member 03 · Member 04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33126" y="3242639"/>
            <a:ext cx="3336139" cy="2996647"/>
            <a:chOff x="0" y="0"/>
            <a:chExt cx="904882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933126" y="1276584"/>
            <a:ext cx="4985039" cy="119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9"/>
              </a:lnSpc>
              <a:spcBef>
                <a:spcPct val="0"/>
              </a:spcBef>
            </a:pPr>
            <a:r>
              <a:rPr lang="en-US" sz="694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Problem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55614" y="3242639"/>
            <a:ext cx="3336139" cy="2996647"/>
            <a:chOff x="0" y="0"/>
            <a:chExt cx="904882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197153" y="3242639"/>
            <a:ext cx="3336139" cy="2996647"/>
            <a:chOff x="0" y="0"/>
            <a:chExt cx="904882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60336"/>
                  </a:moveTo>
                  <a:lnTo>
                    <a:pt x="904882" y="752464"/>
                  </a:lnTo>
                  <a:cubicBezTo>
                    <a:pt x="904882" y="768466"/>
                    <a:pt x="898526" y="783813"/>
                    <a:pt x="887210" y="795128"/>
                  </a:cubicBezTo>
                  <a:cubicBezTo>
                    <a:pt x="875895" y="806443"/>
                    <a:pt x="860548" y="812800"/>
                    <a:pt x="844546" y="812800"/>
                  </a:cubicBezTo>
                  <a:lnTo>
                    <a:pt x="60336" y="812800"/>
                  </a:lnTo>
                  <a:cubicBezTo>
                    <a:pt x="44334" y="812800"/>
                    <a:pt x="28987" y="806443"/>
                    <a:pt x="17672" y="795128"/>
                  </a:cubicBezTo>
                  <a:cubicBezTo>
                    <a:pt x="6357" y="783813"/>
                    <a:pt x="0" y="768466"/>
                    <a:pt x="0" y="752464"/>
                  </a:cubicBezTo>
                  <a:lnTo>
                    <a:pt x="0" y="60336"/>
                  </a:lnTo>
                  <a:cubicBezTo>
                    <a:pt x="0" y="44334"/>
                    <a:pt x="6357" y="28987"/>
                    <a:pt x="17672" y="17672"/>
                  </a:cubicBezTo>
                  <a:cubicBezTo>
                    <a:pt x="28987" y="6357"/>
                    <a:pt x="44334" y="0"/>
                    <a:pt x="60336" y="0"/>
                  </a:cubicBezTo>
                  <a:lnTo>
                    <a:pt x="844546" y="0"/>
                  </a:lnTo>
                  <a:cubicBezTo>
                    <a:pt x="877869" y="0"/>
                    <a:pt x="904882" y="27013"/>
                    <a:pt x="904882" y="60336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80713" y="4455213"/>
            <a:ext cx="304096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Short explanation.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50788" y="4455213"/>
            <a:ext cx="304096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Short explanation.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44740" y="4455213"/>
            <a:ext cx="304096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Short explanation.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33126" y="6741225"/>
            <a:ext cx="1004465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Who is affected?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Primary Users → </a:t>
            </a: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Secondary Stakeholders → Broader Impact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33126" y="8293800"/>
            <a:ext cx="498233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Problem State</a:t>
            </a: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me</a:t>
            </a: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nt ID: PS-XX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69229" y="1180505"/>
            <a:ext cx="9106230" cy="90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6"/>
              </a:lnSpc>
              <a:spcBef>
                <a:spcPct val="0"/>
              </a:spcBef>
            </a:pPr>
            <a:r>
              <a:rPr lang="en-US" sz="5261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WHY THIS PROBLEM EXISTS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169229" y="2862465"/>
            <a:ext cx="2105086" cy="1890868"/>
            <a:chOff x="0" y="0"/>
            <a:chExt cx="904882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45263" lIns="45263" bIns="45263" rIns="4526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599683" y="3070254"/>
            <a:ext cx="1244176" cy="46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2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Cause 1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795707" y="2862465"/>
            <a:ext cx="2105086" cy="1890868"/>
            <a:chOff x="0" y="0"/>
            <a:chExt cx="904882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45263" lIns="45263" bIns="45263" rIns="4526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226162" y="3070254"/>
            <a:ext cx="1244176" cy="46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2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Cause 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422186" y="2862465"/>
            <a:ext cx="2105086" cy="1890868"/>
            <a:chOff x="0" y="0"/>
            <a:chExt cx="904882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4882" cy="812800"/>
            </a:xfrm>
            <a:custGeom>
              <a:avLst/>
              <a:gdLst/>
              <a:ahLst/>
              <a:cxnLst/>
              <a:rect r="r" b="b" t="t" l="l"/>
              <a:pathLst>
                <a:path h="812800" w="904882">
                  <a:moveTo>
                    <a:pt x="904882" y="95621"/>
                  </a:moveTo>
                  <a:lnTo>
                    <a:pt x="904882" y="717179"/>
                  </a:lnTo>
                  <a:cubicBezTo>
                    <a:pt x="904882" y="769989"/>
                    <a:pt x="862072" y="812800"/>
                    <a:pt x="809262" y="812800"/>
                  </a:cubicBezTo>
                  <a:lnTo>
                    <a:pt x="95621" y="812800"/>
                  </a:lnTo>
                  <a:cubicBezTo>
                    <a:pt x="42811" y="812800"/>
                    <a:pt x="0" y="769989"/>
                    <a:pt x="0" y="717179"/>
                  </a:cubicBezTo>
                  <a:lnTo>
                    <a:pt x="0" y="95621"/>
                  </a:lnTo>
                  <a:cubicBezTo>
                    <a:pt x="0" y="42811"/>
                    <a:pt x="42811" y="0"/>
                    <a:pt x="95621" y="0"/>
                  </a:cubicBezTo>
                  <a:lnTo>
                    <a:pt x="809262" y="0"/>
                  </a:lnTo>
                  <a:cubicBezTo>
                    <a:pt x="862072" y="0"/>
                    <a:pt x="904882" y="42811"/>
                    <a:pt x="904882" y="95621"/>
                  </a:cubicBezTo>
                  <a:close/>
                </a:path>
              </a:pathLst>
            </a:custGeom>
            <a:ln w="57150" cap="rnd">
              <a:solidFill>
                <a:srgbClr val="98C632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04882" cy="850900"/>
            </a:xfrm>
            <a:prstGeom prst="rect">
              <a:avLst/>
            </a:prstGeom>
          </p:spPr>
          <p:txBody>
            <a:bodyPr anchor="ctr" rtlCol="false" tIns="45263" lIns="45263" bIns="45263" rIns="45263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852641" y="3070254"/>
            <a:ext cx="1244176" cy="464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2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Cause 3</a:t>
            </a:r>
          </a:p>
        </p:txBody>
      </p:sp>
      <p:sp>
        <p:nvSpPr>
          <p:cNvPr name="TextBox 16" id="16"/>
          <p:cNvSpPr txBox="true"/>
          <p:nvPr/>
        </p:nvSpPr>
        <p:spPr>
          <a:xfrm rot="5400000">
            <a:off x="2330810" y="4965742"/>
            <a:ext cx="661569" cy="1017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1"/>
              </a:lnSpc>
              <a:spcBef>
                <a:spcPct val="0"/>
              </a:spcBef>
            </a:pPr>
            <a:r>
              <a:rPr lang="en-US" sz="5986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434809" y="5995569"/>
            <a:ext cx="2703801" cy="45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2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CORE PROBLEM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64438" y="5995569"/>
            <a:ext cx="3655977" cy="45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2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 CONSEQUENCE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80481" y="5995569"/>
            <a:ext cx="2183498" cy="455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2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 IMPACT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47882" y="5814601"/>
            <a:ext cx="507006" cy="77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3"/>
              </a:lnSpc>
              <a:spcBef>
                <a:spcPct val="0"/>
              </a:spcBef>
            </a:pPr>
            <a:r>
              <a:rPr lang="en-US" sz="4588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44875" y="5814601"/>
            <a:ext cx="507006" cy="779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3"/>
              </a:lnSpc>
              <a:spcBef>
                <a:spcPct val="0"/>
              </a:spcBef>
            </a:pPr>
            <a:r>
              <a:rPr lang="en-US" sz="4588">
                <a:solidFill>
                  <a:srgbClr val="98C632"/>
                </a:solidFill>
                <a:latin typeface="Norwester"/>
                <a:ea typeface="Norwester"/>
                <a:cs typeface="Norwester"/>
                <a:sym typeface="Norwester"/>
              </a:rPr>
              <a:t>-&gt;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434809" y="7318319"/>
            <a:ext cx="9589835" cy="1389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2"/>
              </a:lnSpc>
            </a:pPr>
            <a:r>
              <a:rPr lang="en-US" sz="2672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Current Approach:</a:t>
            </a:r>
          </a:p>
          <a:p>
            <a:pPr algn="l">
              <a:lnSpc>
                <a:spcPts val="3742"/>
              </a:lnSpc>
            </a:pPr>
          </a:p>
          <a:p>
            <a:pPr algn="l">
              <a:lnSpc>
                <a:spcPts val="3742"/>
              </a:lnSpc>
              <a:spcBef>
                <a:spcPct val="0"/>
              </a:spcBef>
            </a:pPr>
            <a:r>
              <a:rPr lang="en-US" sz="2672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Current Method → Friction → Delay / Cost / Risk → Poor Outcome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7174" y="1202869"/>
            <a:ext cx="5162160" cy="922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4"/>
              </a:lnSpc>
              <a:spcBef>
                <a:spcPct val="0"/>
              </a:spcBef>
            </a:pPr>
            <a:r>
              <a:rPr lang="en-US" sz="540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OUR SOLUTION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97174" y="2415049"/>
            <a:ext cx="13301588" cy="1218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285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INTRODUCING [PROJECT NAME]</a:t>
            </a:r>
          </a:p>
          <a:p>
            <a:pPr algn="l">
              <a:lnSpc>
                <a:spcPts val="3200"/>
              </a:lnSpc>
            </a:pPr>
            <a:r>
              <a:rPr lang="en-US" sz="2285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</a:t>
            </a:r>
            <a:r>
              <a:rPr lang="en-US" sz="2285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Project Name] enables [target user] to [desired outcome] by [unique mechanism].</a:t>
            </a:r>
          </a:p>
          <a:p>
            <a:pPr algn="l">
              <a:lnSpc>
                <a:spcPts val="3200"/>
              </a:lnSpc>
              <a:spcBef>
                <a:spcPct val="0"/>
              </a:spcBef>
            </a:pPr>
            <a:r>
              <a:rPr lang="en-US" sz="2285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Then show your solution visually.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97174" y="3938258"/>
            <a:ext cx="4212546" cy="347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3"/>
              </a:lnSpc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</a:t>
            </a:r>
          </a:p>
          <a:p>
            <a:pPr algn="l">
              <a:lnSpc>
                <a:spcPts val="2493"/>
              </a:lnSpc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↓</a:t>
            </a:r>
          </a:p>
          <a:p>
            <a:pPr algn="l">
              <a:lnSpc>
                <a:spcPts val="2493"/>
              </a:lnSpc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INPUT</a:t>
            </a:r>
          </a:p>
          <a:p>
            <a:pPr algn="l">
              <a:lnSpc>
                <a:spcPts val="2493"/>
              </a:lnSpc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↓</a:t>
            </a:r>
          </a:p>
          <a:p>
            <a:pPr algn="l">
              <a:lnSpc>
                <a:spcPts val="2493"/>
              </a:lnSpc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[YOUR SYSTEM]</a:t>
            </a:r>
          </a:p>
          <a:p>
            <a:pPr algn="l">
              <a:lnSpc>
                <a:spcPts val="2493"/>
              </a:lnSpc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↓</a:t>
            </a:r>
          </a:p>
          <a:p>
            <a:pPr algn="l">
              <a:lnSpc>
                <a:spcPts val="2493"/>
              </a:lnSpc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INTELLIGENCE / PROCESSING</a:t>
            </a:r>
          </a:p>
          <a:p>
            <a:pPr algn="l">
              <a:lnSpc>
                <a:spcPts val="2493"/>
              </a:lnSpc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↓</a:t>
            </a:r>
          </a:p>
          <a:p>
            <a:pPr algn="l">
              <a:lnSpc>
                <a:spcPts val="2493"/>
              </a:lnSpc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ACTIONABLE OUTPUT</a:t>
            </a:r>
          </a:p>
          <a:p>
            <a:pPr algn="l">
              <a:lnSpc>
                <a:spcPts val="2493"/>
              </a:lnSpc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↓</a:t>
            </a:r>
          </a:p>
          <a:p>
            <a:pPr algn="l">
              <a:lnSpc>
                <a:spcPts val="2493"/>
              </a:lnSpc>
              <a:spcBef>
                <a:spcPct val="0"/>
              </a:spcBef>
            </a:pPr>
            <a:r>
              <a:rPr lang="en-US" sz="178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 BENEFIT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52242" y="4098165"/>
            <a:ext cx="6012400" cy="3146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</a:pPr>
            <a:r>
              <a:rPr lang="en-US" sz="2541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Core capabilities</a:t>
            </a:r>
          </a:p>
          <a:p>
            <a:pPr algn="l">
              <a:lnSpc>
                <a:spcPts val="3558"/>
              </a:lnSpc>
            </a:pPr>
          </a:p>
          <a:p>
            <a:pPr algn="l">
              <a:lnSpc>
                <a:spcPts val="3558"/>
              </a:lnSpc>
            </a:pPr>
            <a:r>
              <a:rPr lang="en-US" sz="2541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Capability Value</a:t>
            </a:r>
          </a:p>
          <a:p>
            <a:pPr algn="l">
              <a:lnSpc>
                <a:spcPts val="3558"/>
              </a:lnSpc>
            </a:pPr>
          </a:p>
          <a:p>
            <a:pPr algn="l">
              <a:lnSpc>
                <a:spcPts val="3558"/>
              </a:lnSpc>
            </a:pPr>
            <a:r>
              <a:rPr lang="en-US" sz="2541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 [Feature] [Why it matters]</a:t>
            </a:r>
          </a:p>
          <a:p>
            <a:pPr algn="l">
              <a:lnSpc>
                <a:spcPts val="3558"/>
              </a:lnSpc>
            </a:pPr>
            <a:r>
              <a:rPr lang="en-US" sz="2541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 [Feature] [Why it matters]</a:t>
            </a:r>
          </a:p>
          <a:p>
            <a:pPr algn="l">
              <a:lnSpc>
                <a:spcPts val="3558"/>
              </a:lnSpc>
              <a:spcBef>
                <a:spcPct val="0"/>
              </a:spcBef>
            </a:pPr>
            <a:r>
              <a:rPr lang="en-US" sz="2541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 [Feature] [Why it matters]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97174" y="8119395"/>
            <a:ext cx="10798120" cy="886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8"/>
              </a:lnSpc>
              <a:spcBef>
                <a:spcPct val="0"/>
              </a:spcBef>
            </a:pPr>
            <a:r>
              <a:rPr lang="en-US" sz="2541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Important: Don't put 8–1</a:t>
            </a:r>
            <a:r>
              <a:rPr lang="en-US" sz="2541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 features here. Three strong capabilities are more convincing than a feature dump.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79700" y="1202869"/>
            <a:ext cx="12266306" cy="909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3"/>
              </a:lnSpc>
              <a:spcBef>
                <a:spcPct val="0"/>
              </a:spcBef>
            </a:pPr>
            <a:r>
              <a:rPr lang="en-US" sz="5316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PROTOTYPE / PRODUCT EXPERIENCE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11983" y="2834831"/>
            <a:ext cx="412724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Prototype Screenshots 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1983" y="5086350"/>
            <a:ext cx="412724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Prototype Screenshots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35650" y="2863406"/>
            <a:ext cx="2749391" cy="4181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Right: User journey</a:t>
            </a:r>
          </a:p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01 — IN</a:t>
            </a: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PUT</a:t>
            </a:r>
          </a:p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the user provides.</a:t>
            </a:r>
          </a:p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↓</a:t>
            </a:r>
          </a:p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02 — PROCESS</a:t>
            </a:r>
          </a:p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your system does.</a:t>
            </a:r>
          </a:p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↓</a:t>
            </a:r>
          </a:p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03 — OUTPUT</a:t>
            </a:r>
          </a:p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the user receives.</a:t>
            </a:r>
          </a:p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↓</a:t>
            </a:r>
          </a:p>
          <a:p>
            <a:pPr algn="l">
              <a:lnSpc>
                <a:spcPts val="2757"/>
              </a:lnSpc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04 — ACTION</a:t>
            </a:r>
          </a:p>
          <a:p>
            <a:pPr algn="l">
              <a:lnSpc>
                <a:spcPts val="2757"/>
              </a:lnSpc>
              <a:spcBef>
                <a:spcPct val="0"/>
              </a:spcBef>
            </a:pPr>
            <a:r>
              <a:rPr lang="en-US" sz="196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happens next.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983" y="7304509"/>
            <a:ext cx="14934771" cy="195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you have only one prototype screenshot</a:t>
            </a:r>
          </a:p>
          <a:p>
            <a:pPr algn="l">
              <a:lnSpc>
                <a:spcPts val="3090"/>
              </a:lnSpc>
              <a:spcBef>
                <a:spcPct val="0"/>
              </a:spcBef>
            </a:pPr>
          </a:p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Make it large, not tiny:</a:t>
            </a:r>
          </a:p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Input → Process → Outcome</a:t>
            </a:r>
          </a:p>
          <a:p>
            <a:pPr algn="l">
              <a:lnSpc>
                <a:spcPts val="3090"/>
              </a:lnSpc>
              <a:spcBef>
                <a:spcPct val="0"/>
              </a:spcBef>
            </a:pPr>
            <a:r>
              <a:rPr lang="en-US" sz="220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Do not use a fake screenshot just to fill space. If the actual prototype isn't available yet, leave a clearly marked placeholder.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2463" y="1208530"/>
            <a:ext cx="10420542" cy="948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94"/>
              </a:lnSpc>
              <a:spcBef>
                <a:spcPct val="0"/>
              </a:spcBef>
            </a:pPr>
            <a:r>
              <a:rPr lang="en-US" sz="5638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MAKES US DIFFERENT?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92463" y="2722492"/>
            <a:ext cx="42217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WHY THIS APPROACH?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92463" y="3564837"/>
            <a:ext cx="5842473" cy="429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42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a comparison matrix (Example below)</a:t>
            </a:r>
          </a:p>
          <a:p>
            <a:pPr algn="l">
              <a:lnSpc>
                <a:spcPts val="3398"/>
              </a:lnSpc>
            </a:pPr>
          </a:p>
          <a:p>
            <a:pPr algn="l">
              <a:lnSpc>
                <a:spcPts val="3398"/>
              </a:lnSpc>
            </a:pPr>
            <a:r>
              <a:rPr lang="en-US" sz="242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Existing Approach                  [Project Name]</a:t>
            </a:r>
          </a:p>
          <a:p>
            <a:pPr algn="l">
              <a:lnSpc>
                <a:spcPts val="3398"/>
              </a:lnSpc>
            </a:pPr>
          </a:p>
          <a:p>
            <a:pPr algn="l">
              <a:lnSpc>
                <a:spcPts val="3398"/>
              </a:lnSpc>
            </a:pPr>
            <a:r>
              <a:rPr lang="en-US" sz="242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Accessibility Limited                       ✓</a:t>
            </a:r>
          </a:p>
          <a:p>
            <a:pPr algn="l">
              <a:lnSpc>
                <a:spcPts val="3398"/>
              </a:lnSpc>
            </a:pPr>
            <a:r>
              <a:rPr lang="en-US" sz="242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Automation Manual                         ✓</a:t>
            </a:r>
          </a:p>
          <a:p>
            <a:pPr algn="l">
              <a:lnSpc>
                <a:spcPts val="3398"/>
              </a:lnSpc>
            </a:pPr>
            <a:r>
              <a:rPr lang="en-US" sz="242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Personalization Low                        ✓</a:t>
            </a:r>
          </a:p>
          <a:p>
            <a:pPr algn="l">
              <a:lnSpc>
                <a:spcPts val="3398"/>
              </a:lnSpc>
            </a:pPr>
            <a:r>
              <a:rPr lang="en-US" sz="242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Real-time feedback Limited          ✓</a:t>
            </a:r>
          </a:p>
          <a:p>
            <a:pPr algn="l">
              <a:lnSpc>
                <a:spcPts val="3398"/>
              </a:lnSpc>
            </a:pPr>
            <a:r>
              <a:rPr lang="en-US" sz="242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Scalability Limited                           ✓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2392463" y="7987127"/>
            <a:ext cx="9875446" cy="127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Only include dimensions that are actually defensible.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Avoid meaningless claims like "AI-powered, innovative and revolutionary."</a:t>
            </a:r>
          </a:p>
          <a:p>
            <a:pPr algn="l">
              <a:lnSpc>
                <a:spcPts val="3398"/>
              </a:lnSpc>
              <a:spcBef>
                <a:spcPct val="0"/>
              </a:spcBef>
            </a:pPr>
            <a:r>
              <a:rPr lang="en-US" sz="242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If everyone uses AI, AI isn't your differentiator.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8075" y="2869187"/>
            <a:ext cx="6301225" cy="6301225"/>
          </a:xfrm>
          <a:custGeom>
            <a:avLst/>
            <a:gdLst/>
            <a:ahLst/>
            <a:cxnLst/>
            <a:rect r="r" b="b" t="t" l="l"/>
            <a:pathLst>
              <a:path h="6301225" w="6301225">
                <a:moveTo>
                  <a:pt x="0" y="0"/>
                </a:moveTo>
                <a:lnTo>
                  <a:pt x="6301225" y="0"/>
                </a:lnTo>
                <a:lnTo>
                  <a:pt x="6301225" y="6301226"/>
                </a:lnTo>
                <a:lnTo>
                  <a:pt x="0" y="6301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62574" y="1177192"/>
            <a:ext cx="8701057" cy="849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2"/>
              </a:lnSpc>
              <a:spcBef>
                <a:spcPct val="0"/>
              </a:spcBef>
            </a:pPr>
            <a:r>
              <a:rPr lang="en-US" sz="5044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TECHNICAL 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2574" y="2314575"/>
            <a:ext cx="6418087" cy="576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8"/>
              </a:lnSpc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</a:t>
            </a: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ech stack:</a:t>
            </a:r>
          </a:p>
          <a:p>
            <a:pPr algn="l">
              <a:lnSpc>
                <a:spcPts val="3798"/>
              </a:lnSpc>
            </a:pPr>
          </a:p>
          <a:p>
            <a:pPr algn="l">
              <a:lnSpc>
                <a:spcPts val="3798"/>
              </a:lnSpc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Frontend</a:t>
            </a:r>
          </a:p>
          <a:p>
            <a:pPr algn="l">
              <a:lnSpc>
                <a:spcPts val="3798"/>
              </a:lnSpc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React / Next.js / Flutter / etc.</a:t>
            </a:r>
          </a:p>
          <a:p>
            <a:pPr algn="l">
              <a:lnSpc>
                <a:spcPts val="3798"/>
              </a:lnSpc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Backend</a:t>
            </a:r>
          </a:p>
          <a:p>
            <a:pPr algn="l">
              <a:lnSpc>
                <a:spcPts val="3798"/>
              </a:lnSpc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Node.js / Python / etc.</a:t>
            </a:r>
          </a:p>
          <a:p>
            <a:pPr algn="l">
              <a:lnSpc>
                <a:spcPts val="3798"/>
              </a:lnSpc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Database</a:t>
            </a:r>
          </a:p>
          <a:p>
            <a:pPr algn="l">
              <a:lnSpc>
                <a:spcPts val="3798"/>
              </a:lnSpc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PostgreSQL / MongoDB / etc.</a:t>
            </a:r>
          </a:p>
          <a:p>
            <a:pPr algn="l">
              <a:lnSpc>
                <a:spcPts val="3798"/>
              </a:lnSpc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AI/ML</a:t>
            </a:r>
          </a:p>
          <a:p>
            <a:pPr algn="l">
              <a:lnSpc>
                <a:spcPts val="3798"/>
              </a:lnSpc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/ API / Framework</a:t>
            </a:r>
          </a:p>
          <a:p>
            <a:pPr algn="l">
              <a:lnSpc>
                <a:spcPts val="3798"/>
              </a:lnSpc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Deployment</a:t>
            </a:r>
          </a:p>
          <a:p>
            <a:pPr algn="l">
              <a:lnSpc>
                <a:spcPts val="3798"/>
              </a:lnSpc>
              <a:spcBef>
                <a:spcPct val="0"/>
              </a:spcBef>
            </a:pPr>
            <a:r>
              <a:rPr lang="en-US" sz="2713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AWS / Vercel / Azure / etc.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62574" y="8617963"/>
            <a:ext cx="709648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</a:t>
            </a: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nly list technologies that are genuinely part of the implementation.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92893" y="2076450"/>
            <a:ext cx="423159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Example Workflow Image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239598" y="1326051"/>
            <a:ext cx="7426245" cy="948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1"/>
              </a:lnSpc>
              <a:spcBef>
                <a:spcPct val="0"/>
              </a:spcBef>
            </a:pPr>
            <a:r>
              <a:rPr lang="en-US" sz="5572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FEASIBILITY + IMPACT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71575" y="2708910"/>
            <a:ext cx="2313817" cy="55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98C6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FEASIBILITY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7153270" y="2766060"/>
            <a:ext cx="0" cy="6492240"/>
          </a:xfrm>
          <a:prstGeom prst="line">
            <a:avLst/>
          </a:prstGeom>
          <a:ln cap="rnd" w="38100">
            <a:solidFill>
              <a:srgbClr val="98C63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8035582" y="2708910"/>
            <a:ext cx="1406886" cy="55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98C632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61001" y="3661410"/>
            <a:ext cx="6037984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Technical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[Technology already available]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</a:t>
            </a: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Existing API/model]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[Implementation approach]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Operational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[Required resources]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[Deployment model]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Hackathon MVP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[What will actually be demonstrated]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35582" y="3661410"/>
            <a:ext cx="5539112" cy="424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Who benefits?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[User group]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improves?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[Me</a:t>
            </a: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tric / outcome]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Why does it matter?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[Real-world consequence]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Then a bottom progression: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Prototype → MVP → Pilot → Scale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5339956" y="5143500"/>
            <a:ext cx="902852" cy="0"/>
          </a:xfrm>
          <a:prstGeom prst="line">
            <a:avLst/>
          </a:prstGeom>
          <a:ln cap="rnd" w="57150">
            <a:solidFill>
              <a:srgbClr val="98C632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4" id="4"/>
          <p:cNvSpPr txBox="true"/>
          <p:nvPr/>
        </p:nvSpPr>
        <p:spPr>
          <a:xfrm rot="0">
            <a:off x="6800732" y="3505200"/>
            <a:ext cx="3676171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NEXT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MVP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 testing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Reliability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Security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Refinement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00754" y="3505200"/>
            <a:ext cx="3676171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LATER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Deployment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Real-world pilot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Analytics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Integrations</a:t>
            </a:r>
          </a:p>
        </p:txBody>
      </p:sp>
      <p:sp>
        <p:nvSpPr>
          <p:cNvPr name="AutoShape 6" id="6"/>
          <p:cNvSpPr/>
          <p:nvPr/>
        </p:nvSpPr>
        <p:spPr>
          <a:xfrm>
            <a:off x="9574051" y="5114925"/>
            <a:ext cx="902852" cy="0"/>
          </a:xfrm>
          <a:prstGeom prst="line">
            <a:avLst/>
          </a:prstGeom>
          <a:ln cap="rnd" w="57150">
            <a:solidFill>
              <a:srgbClr val="98C632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7" id="7"/>
          <p:cNvSpPr/>
          <p:nvPr/>
        </p:nvSpPr>
        <p:spPr>
          <a:xfrm>
            <a:off x="14025732" y="4800159"/>
            <a:ext cx="902385" cy="29031"/>
          </a:xfrm>
          <a:prstGeom prst="line">
            <a:avLst/>
          </a:prstGeom>
          <a:ln cap="rnd" w="57150">
            <a:solidFill>
              <a:srgbClr val="98C632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8" id="8"/>
          <p:cNvGrpSpPr/>
          <p:nvPr/>
        </p:nvGrpSpPr>
        <p:grpSpPr>
          <a:xfrm rot="0">
            <a:off x="14800775" y="3314700"/>
            <a:ext cx="3086100" cy="308610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080B0E">
                <a:alpha val="56863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500628" y="1238545"/>
            <a:ext cx="9114634" cy="87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4"/>
              </a:lnSpc>
              <a:spcBef>
                <a:spcPct val="0"/>
              </a:spcBef>
            </a:pPr>
            <a:r>
              <a:rPr lang="en-US" sz="516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IMPLEMENTATION ROADMAP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36914" y="3505200"/>
            <a:ext cx="3676171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NOW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Hackathon Prototype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Core workflow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Functional UI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Initial validation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00628" y="2609464"/>
            <a:ext cx="430010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WHAT HAPPENS NEXT?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38900" y="3505200"/>
            <a:ext cx="3676171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SCALE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Expansion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More users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More domains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More locations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6914" y="6904738"/>
            <a:ext cx="3493523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Critical point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Clearly separate: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Already built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vs.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Planned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00628" y="3425600"/>
            <a:ext cx="7082529" cy="4495201"/>
          </a:xfrm>
          <a:custGeom>
            <a:avLst/>
            <a:gdLst/>
            <a:ahLst/>
            <a:cxnLst/>
            <a:rect r="r" b="b" t="t" l="l"/>
            <a:pathLst>
              <a:path h="4495201" w="7082529">
                <a:moveTo>
                  <a:pt x="0" y="0"/>
                </a:moveTo>
                <a:lnTo>
                  <a:pt x="7082528" y="0"/>
                </a:lnTo>
                <a:lnTo>
                  <a:pt x="7082528" y="4495201"/>
                </a:lnTo>
                <a:lnTo>
                  <a:pt x="0" y="44952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00628" y="1238545"/>
            <a:ext cx="6308744" cy="87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4"/>
              </a:lnSpc>
              <a:spcBef>
                <a:spcPct val="0"/>
              </a:spcBef>
            </a:pPr>
            <a:r>
              <a:rPr lang="en-US" sz="5167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TEAM + EXECUTION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00628" y="2531823"/>
            <a:ext cx="3383383" cy="65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46"/>
              </a:lnSpc>
              <a:spcBef>
                <a:spcPct val="0"/>
              </a:spcBef>
            </a:pPr>
            <a:r>
              <a:rPr lang="en-US" sz="3890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Example Image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500628" y="8177325"/>
            <a:ext cx="11263834" cy="10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1"/>
              </a:lnSpc>
            </a:pPr>
            <a:r>
              <a:rPr lang="en-US" sz="312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Why this team can execute the solution</a:t>
            </a:r>
          </a:p>
          <a:p>
            <a:pPr algn="l">
              <a:lnSpc>
                <a:spcPts val="4381"/>
              </a:lnSpc>
              <a:spcBef>
                <a:spcPct val="0"/>
              </a:spcBef>
            </a:pPr>
            <a:r>
              <a:rPr lang="en-US" sz="3129">
                <a:solidFill>
                  <a:srgbClr val="98C632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One concise sentence connecting the team's skills to the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DAHRvWOOywY</dc:identifier>
  <dcterms:modified xsi:type="dcterms:W3CDTF">2011-08-01T06:04:30Z</dcterms:modified>
  <cp:revision>1</cp:revision>
  <dc:title>HACK MATRIX</dc:title>
</cp:coreProperties>
</file>